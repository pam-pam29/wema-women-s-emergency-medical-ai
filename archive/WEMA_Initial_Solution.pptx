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68" r:id="rId2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F561AF-4F36-46DA-B61B-508E98F30B0B}">
  <a:tblStyle styleId="{F8F561AF-4F36-46DA-B61B-508E98F30B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font" Target="fonts/ProximaNova-regular.fntdata"/><Relationship Id="rId19" Type="http://schemas.openxmlformats.org/officeDocument/2006/relationships/font" Target="fonts/ProximaNova-bold.fntdata"/><Relationship Id="rId20" Type="http://schemas.openxmlformats.org/officeDocument/2006/relationships/font" Target="fonts/ProximaNova-italic.fntdata"/><Relationship Id="rId21" Type="http://schemas.openxmlformats.org/officeDocument/2006/relationships/font" Target="fonts/ProximaNova-boldItalic.fntdata"/><Relationship Id="rId22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aa2427b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baa2427b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baa2427b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"/>
          <p:cNvCxnSpPr/>
          <p:nvPr/>
        </p:nvCxnSpPr>
        <p:spPr>
          <a:xfrm>
            <a:off x="0" y="3997533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type="ctrTitle"/>
          </p:nvPr>
        </p:nvSpPr>
        <p:spPr>
          <a:xfrm>
            <a:off x="680600" y="1676400"/>
            <a:ext cx="10830900" cy="21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680600" y="4243083"/>
            <a:ext cx="10830900" cy="84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3"/>
          <p:cNvCxnSpPr/>
          <p:nvPr/>
        </p:nvCxnSpPr>
        <p:spPr>
          <a:xfrm>
            <a:off x="0" y="3997533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>
            <p:ph type="title"/>
          </p:nvPr>
        </p:nvSpPr>
        <p:spPr>
          <a:xfrm>
            <a:off x="680600" y="2743200"/>
            <a:ext cx="10830900" cy="1038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653667" y="701800"/>
            <a:ext cx="77301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354000" y="1607767"/>
            <a:ext cx="5393700" cy="2012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15600" y="5649100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415600" y="1321967"/>
            <a:ext cx="11360700" cy="255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15600" y="4095067"/>
            <a:ext cx="11360700" cy="120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roxima Nova"/>
              <a:buChar char="●"/>
              <a:defRPr sz="24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●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●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21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WOMEN'S EMERGENCY MEDICAL AI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Bookman Old Style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WEMA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68680" y="333756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6D1"/>
              </a:buClr>
              <a:buSzPts val="2050"/>
              <a:buFont typeface="Calibri"/>
              <a:buNone/>
            </a:pPr>
            <a:r>
              <a:rPr b="0" i="0" lang="en-US" sz="2050" u="none" cap="none" strike="noStrike">
                <a:solidFill>
                  <a:srgbClr val="C9D6D1"/>
                </a:solidFill>
                <a:latin typeface="Calibri"/>
                <a:ea typeface="Calibri"/>
                <a:cs typeface="Calibri"/>
                <a:sym typeface="Calibri"/>
              </a:rPr>
              <a:t xml:space="preserve">A voice-first maternal emergency assistant grounded in </a:t>
            </a:r>
            <a:r>
              <a:rPr lang="en-US" sz="2050">
                <a:solidFill>
                  <a:srgbClr val="C9D6D1"/>
                </a:solidFill>
                <a:latin typeface="Calibri"/>
                <a:ea typeface="Calibri"/>
                <a:cs typeface="Calibri"/>
                <a:sym typeface="Calibri"/>
              </a:rPr>
              <a:t>verifiable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6D1"/>
              </a:buClr>
              <a:buSzPts val="2050"/>
              <a:buFont typeface="Calibri"/>
              <a:buNone/>
            </a:pPr>
            <a:r>
              <a:rPr b="0" i="0" lang="en-US" sz="2050" u="none" cap="none" strike="noStrike">
                <a:solidFill>
                  <a:srgbClr val="C9D6D1"/>
                </a:solidFill>
                <a:latin typeface="Calibri"/>
                <a:ea typeface="Calibri"/>
                <a:cs typeface="Calibri"/>
                <a:sym typeface="Calibri"/>
              </a:rPr>
              <a:t xml:space="preserve">clinical guidance </a:t>
            </a:r>
            <a:r>
              <a:rPr lang="en-US" sz="2050">
                <a:solidFill>
                  <a:srgbClr val="C9D6D1"/>
                </a:solidFill>
                <a:latin typeface="Calibri"/>
                <a:ea typeface="Calibri"/>
                <a:cs typeface="Calibri"/>
                <a:sym typeface="Calibri"/>
              </a:rPr>
              <a:t xml:space="preserve"> and </a:t>
            </a:r>
            <a:r>
              <a:rPr b="0" i="0" lang="en-US" sz="2050" u="none" cap="none" strike="noStrike">
                <a:solidFill>
                  <a:srgbClr val="C9D6D1"/>
                </a:solidFill>
                <a:latin typeface="Calibri"/>
                <a:ea typeface="Calibri"/>
                <a:cs typeface="Calibri"/>
                <a:sym typeface="Calibri"/>
              </a:rPr>
              <a:t>guiding callers through life-saving home actions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6D1"/>
              </a:buClr>
              <a:buSzPts val="2050"/>
              <a:buFont typeface="Calibri"/>
              <a:buNone/>
            </a:pPr>
            <a:r>
              <a:rPr b="0" i="0" lang="en-US" sz="2050" u="none" cap="none" strike="noStrike">
                <a:solidFill>
                  <a:srgbClr val="C9D6D1"/>
                </a:solidFill>
                <a:latin typeface="Calibri"/>
                <a:ea typeface="Calibri"/>
                <a:cs typeface="Calibri"/>
                <a:sym typeface="Calibri"/>
              </a:rPr>
              <a:t>until help arrives.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822960" y="5166360"/>
            <a:ext cx="2468880" cy="1234440"/>
          </a:xfrm>
          <a:prstGeom prst="roundRect">
            <a:avLst>
              <a:gd fmla="val 5926" name="adj"/>
            </a:avLst>
          </a:prstGeom>
          <a:solidFill>
            <a:srgbClr val="1E3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024128" y="53035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ML TRACK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024128" y="56692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Software Product Demonstration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774615" y="5166335"/>
            <a:ext cx="2469000" cy="1234500"/>
          </a:xfrm>
          <a:prstGeom prst="roundRect">
            <a:avLst>
              <a:gd fmla="val 5926" name="adj"/>
            </a:avLst>
          </a:prstGeom>
          <a:solidFill>
            <a:srgbClr val="1E3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3931971" y="530352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931983" y="5669218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· ChromaDB · LangChain · Groq Llama 3.3 70B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3774613" y="530352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9116568" y="53035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9116568" y="56692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Alu logo.png - Wikimedia Commons"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2250" y="110500"/>
            <a:ext cx="3919375" cy="12344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7264525" y="6044950"/>
            <a:ext cx="4697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Presented by Victoria Fakunle</a:t>
            </a:r>
            <a:endParaRPr i="1" sz="180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Problem &amp; The Solution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Why WEMA exists, and how it works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40080" y="1828800"/>
            <a:ext cx="5394960" cy="4297680"/>
          </a:xfrm>
          <a:prstGeom prst="roundRect">
            <a:avLst>
              <a:gd fmla="val 1702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1691640" y="214884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50"/>
              <a:buFont typeface="Bookman Old Style"/>
              <a:buNone/>
            </a:pPr>
            <a:r>
              <a:rPr b="1" i="0" lang="en-US" sz="20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Problem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960120" y="288036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Many maternal deaths in low-resource settings occur during obstetric emergencies at home, before a caller can reach a clinician.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Callers and birth attendants often don't know the correct first physical action</a:t>
            </a:r>
            <a:r>
              <a:rPr lang="en-US" sz="15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 xml:space="preserve"> and minutes matter for haemorrhage, eclampsia, and cord prolapse.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Generic chatbots risk inventing unsafe advice or recommending drugs that aren't appropriate over a hotline.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6263640" y="1828800"/>
            <a:ext cx="5257800" cy="4297680"/>
          </a:xfrm>
          <a:prstGeom prst="roundRect">
            <a:avLst>
              <a:gd fmla="val 1702" name="adj"/>
            </a:avLst>
          </a:prstGeom>
          <a:solidFill>
            <a:srgbClr val="EAF6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6537960" y="2103120"/>
            <a:ext cx="594360" cy="59436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7315200" y="21488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50"/>
              <a:buFont typeface="Bookman Old Style"/>
              <a:buNone/>
            </a:pPr>
            <a:r>
              <a:rPr b="1" i="0" lang="en-US" sz="20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Solution</a:t>
            </a:r>
            <a:r>
              <a:rPr b="1" lang="en-US" sz="205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:</a:t>
            </a:r>
            <a:r>
              <a:rPr b="1" i="0" lang="en-US" sz="20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WEMA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6583680" y="2880360"/>
            <a:ext cx="4754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 voice maternal-health assistant for Nigeria, grounded in 19 curated WHO / ACOG clinical documents via Retrieval-Augmented Generation (RAG).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Retrieves the most relevant clinical passages for the caller's situation, then responds with short, calm, physical-only home actions.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Uses a dual-path design: give a home action when one exists; otherwise route immediately to transport  "go now, not wait".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Evaluated end-to-end against 68 labelled emergency scenarios across 17 emergency types.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3400" b="1"/>
              <a:t>The WEMA Pipeline</a:t>
            </a:r>
          </a:p>
        </p:txBody>
      </p:sp>
      <p:sp>
        <p:nvSpPr>
          <p:cNvPr id="100" name="Google Shape;100;p16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From caller speech to a safe, grounded home action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40080" y="20574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623060" y="2377440"/>
            <a:ext cx="640080" cy="640080"/>
          </a:xfrm>
          <a:prstGeom prst="ellipse">
            <a:avLst/>
          </a:prstGeom>
          <a:solidFill>
            <a:srgbClr val="3A7C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162306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804672" y="315468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Caller Query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841248" y="3840480"/>
            <a:ext cx="220370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Voice input describing the emergency situation at home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246120" y="3337560"/>
            <a:ext cx="246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493008" y="20574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4475988" y="2377440"/>
            <a:ext cx="640080" cy="6400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475988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657600" y="315468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Embed &amp; Retrieve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694176" y="3840480"/>
            <a:ext cx="220370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MiniLM (all-MiniLM-L6-v2) embeds the query; ChromaDB retrieves top k=4 passages from 7,906 passages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099048" y="3337560"/>
            <a:ext cx="246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345936" y="20574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328916" y="2377440"/>
            <a:ext cx="640080" cy="640080"/>
          </a:xfrm>
          <a:prstGeom prst="ellipse">
            <a:avLst/>
          </a:prstGeom>
          <a:solidFill>
            <a:srgbClr val="7B6D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328916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510528" y="315468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Dual-Path Prompt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6547104" y="3840480"/>
            <a:ext cx="220370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>System prompt enforces physical-only, home actions where safe </a:t>
            </a:r>
            <a:r>
              <a:rPr lang="en-US" sz="130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b="0" i="0" lang="en-US" sz="13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or 'go now'</a:t>
            </a:r>
            <a:r>
              <a:rPr lang="en-US" sz="130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951976" y="3337560"/>
            <a:ext cx="246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9198864" y="20574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10181844" y="2377440"/>
            <a:ext cx="640080" cy="64008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0181844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9363456" y="315468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Llama 3.3 70B (Groq)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400032" y="3840480"/>
            <a:ext cx="220370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Production answer model generates a short, calm, grounded response in real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40075" y="5623546"/>
            <a:ext cx="10881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 xml:space="preserve">Configuration: </a:t>
            </a:r>
            <a:r>
              <a:rPr b="0" i="0" lang="en-US" sz="14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>COLLECTION_NAME="wema_maternal_health"   ·   </a:t>
            </a:r>
            <a:endParaRPr b="0" i="0" sz="1400" u="none" cap="none" strike="noStrike">
              <a:solidFill>
                <a:srgbClr val="8887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>EMBEDDING_MODEL="sentence-transformers/all-MiniLM-L6-v2"   ·   </a:t>
            </a:r>
            <a:endParaRPr b="0" i="0" sz="1400" u="none" cap="none" strike="noStrike">
              <a:solidFill>
                <a:srgbClr val="8887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K=4 retrieval depth   ·   TEMP=0.2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C2C2A"/>
                </a:solidFill>
                <a:latin typeface="Bookman Old Style"/>
              </a:rPr>
              <a:t>Data Engineering: Preprocessing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888780"/>
                </a:solidFill>
                <a:latin typeface="Calibri"/>
              </a:rPr>
              <a:t>How source documents were cleaned, segmented into passages, and validated before indexing</a:t>
            </a:r>
          </a:p>
        </p:txBody>
      </p:sp>
      <p:sp>
        <p:nvSpPr>
          <p:cNvPr id="10" name="Card1Bg"/>
          <p:cNvSpPr/>
          <p:nvPr/>
        </p:nvSpPr>
        <p:spPr>
          <a:xfrm>
            <a:off x="640080" y="1828800"/>
            <a:ext cx="2400120" cy="2000520"/>
          </a:xfrm>
          <a:prstGeom prst="roundRect">
            <a:avLst>
              <a:gd fmla="val 2667" name="adj"/>
            </a:avLst>
          </a:prstGeom>
          <a:solidFill>
            <a:srgbClr val="1D9E7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ard1Num"/>
          <p:cNvSpPr/>
          <p:nvPr/>
        </p:nvSpPr>
        <p:spPr>
          <a:xfrm>
            <a:off x="640080" y="1965240"/>
            <a:ext cx="240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FFFFFF"/>
                </a:solidFill>
                <a:latin typeface="Bookman Old Style"/>
              </a:rPr>
              <a:t>844</a:t>
            </a:r>
          </a:p>
        </p:txBody>
      </p:sp>
      <p:sp>
        <p:nvSpPr>
          <p:cNvPr id="12" name="Card1Label"/>
          <p:cNvSpPr/>
          <p:nvPr/>
        </p:nvSpPr>
        <p:spPr>
          <a:xfrm>
            <a:off x="640080" y="2788200"/>
            <a:ext cx="2400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E4F5EE"/>
                </a:solidFill>
                <a:latin typeface="Calibri"/>
              </a:rPr>
              <a:t>noise passages removed in cleaning (forms, citations, headers)</a:t>
            </a:r>
          </a:p>
        </p:txBody>
      </p:sp>
      <p:sp>
        <p:nvSpPr>
          <p:cNvPr id="20" name="Card2Bg"/>
          <p:cNvSpPr/>
          <p:nvPr/>
        </p:nvSpPr>
        <p:spPr>
          <a:xfrm>
            <a:off x="3200400" y="1828800"/>
            <a:ext cx="2400120" cy="2000520"/>
          </a:xfrm>
          <a:prstGeom prst="roundRect">
            <a:avLst>
              <a:gd fmla="val 2667" name="adj"/>
            </a:avLst>
          </a:prstGeom>
          <a:solidFill>
            <a:srgbClr val="1D9E7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Card2Num"/>
          <p:cNvSpPr/>
          <p:nvPr/>
        </p:nvSpPr>
        <p:spPr>
          <a:xfrm>
            <a:off x="3200400" y="1965240"/>
            <a:ext cx="240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Bookman Old Style"/>
              </a:rPr>
              <a:t>~110</a:t>
            </a:r>
          </a:p>
        </p:txBody>
      </p:sp>
      <p:sp>
        <p:nvSpPr>
          <p:cNvPr id="22" name="Card2Label"/>
          <p:cNvSpPr/>
          <p:nvPr/>
        </p:nvSpPr>
        <p:spPr>
          <a:xfrm>
            <a:off x="3200400" y="2788200"/>
            <a:ext cx="2400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E4F5EE"/>
                </a:solidFill>
                <a:latin typeface="Calibri"/>
              </a:rPr>
              <a:t>average tokens per passage (sliding-window segmentation)</a:t>
            </a:r>
          </a:p>
        </p:txBody>
      </p:sp>
      <p:sp>
        <p:nvSpPr>
          <p:cNvPr id="30" name="Card3Bg"/>
          <p:cNvSpPr/>
          <p:nvPr/>
        </p:nvSpPr>
        <p:spPr>
          <a:xfrm>
            <a:off x="640080" y="4100520"/>
            <a:ext cx="2400120" cy="2000520"/>
          </a:xfrm>
          <a:prstGeom prst="roundRect">
            <a:avLst>
              <a:gd fmla="val 2667" name="adj"/>
            </a:avLst>
          </a:prstGeom>
          <a:solidFill>
            <a:srgbClr val="158A6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Card3Num"/>
          <p:cNvSpPr/>
          <p:nvPr/>
        </p:nvSpPr>
        <p:spPr>
          <a:xfrm>
            <a:off x="640080" y="4236960"/>
            <a:ext cx="240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Bookman Old Style"/>
              </a:rPr>
              <a:t>384-d</a:t>
            </a:r>
          </a:p>
        </p:txBody>
      </p:sp>
      <p:sp>
        <p:nvSpPr>
          <p:cNvPr id="32" name="Card3Label"/>
          <p:cNvSpPr/>
          <p:nvPr/>
        </p:nvSpPr>
        <p:spPr>
          <a:xfrm>
            <a:off x="731520" y="5059920"/>
            <a:ext cx="228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0EDE4"/>
                </a:solidFill>
                <a:latin typeface="Calibri"/>
              </a:rPr>
              <a:t>embedding dimensions (MiniLM all-MiniLM-L6-v2)</a:t>
            </a:r>
          </a:p>
        </p:txBody>
      </p:sp>
      <p:sp>
        <p:nvSpPr>
          <p:cNvPr id="40" name="Card4Bg"/>
          <p:cNvSpPr/>
          <p:nvPr/>
        </p:nvSpPr>
        <p:spPr>
          <a:xfrm>
            <a:off x="3200400" y="4100520"/>
            <a:ext cx="2400120" cy="2000520"/>
          </a:xfrm>
          <a:prstGeom prst="roundRect">
            <a:avLst>
              <a:gd fmla="val 2667" name="adj"/>
            </a:avLst>
          </a:prstGeom>
          <a:solidFill>
            <a:srgbClr val="158A6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Card4Num"/>
          <p:cNvSpPr/>
          <p:nvPr/>
        </p:nvSpPr>
        <p:spPr>
          <a:xfrm>
            <a:off x="3200400" y="4236960"/>
            <a:ext cx="240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FFFFFF"/>
                </a:solidFill>
                <a:latin typeface="Bookman Old Style"/>
              </a:rPr>
              <a:t>K=4</a:t>
            </a:r>
          </a:p>
        </p:txBody>
      </p:sp>
      <p:sp>
        <p:nvSpPr>
          <p:cNvPr id="42" name="Card4Label"/>
          <p:cNvSpPr/>
          <p:nvPr/>
        </p:nvSpPr>
        <p:spPr>
          <a:xfrm>
            <a:off x="3200400" y="5059920"/>
            <a:ext cx="2400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0EDE4"/>
                </a:solidFill>
                <a:latin typeface="Calibri"/>
              </a:rPr>
              <a:t>passages retrieved per query (retrieval depth)</a:t>
            </a:r>
          </a:p>
        </p:txBody>
      </p:sp>
      <p:sp>
        <p:nvSpPr>
          <p:cNvPr id="50" name="RightPanel"/>
          <p:cNvSpPr/>
          <p:nvPr/>
        </p:nvSpPr>
        <p:spPr>
          <a:xfrm>
            <a:off x="6192000" y="1828800"/>
            <a:ext cx="5329440" cy="4272240"/>
          </a:xfrm>
          <a:prstGeom prst="roundRect">
            <a:avLst>
              <a:gd fmla="val 1500" name="adj"/>
            </a:avLst>
          </a:prstGeom>
          <a:solidFill>
            <a:srgbClr val="F4FBF8"/>
          </a:solidFill>
          <a:ln w="12700">
            <a:solidFill>
              <a:srgbClr val="1D9E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ightHeader"/>
          <p:cNvSpPr/>
          <p:nvPr/>
        </p:nvSpPr>
        <p:spPr>
          <a:xfrm>
            <a:off x="6374880" y="1920240"/>
            <a:ext cx="496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9E75"/>
                </a:solidFill>
                <a:latin typeface="Bookman Old Style"/>
              </a:rPr>
              <a:t>Preprocessing Pipeline &amp; EDA Findings</a:t>
            </a:r>
          </a:p>
        </p:txBody>
      </p:sp>
      <p:sp>
        <p:nvSpPr>
          <p:cNvPr id="52" name="RightContent"/>
          <p:cNvSpPr/>
          <p:nvPr/>
        </p:nvSpPr>
        <p:spPr>
          <a:xfrm>
            <a:off x="6374880" y="2468880"/>
            <a:ext cx="4963680" cy="347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>
            <a:noAutofit/>
          </a:bodyPr>
          <a:lstStyle/>
          <a:p>
            <a:pPr algn="l" marL="228600" indent="-22860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Char char="●"/>
              <a:buClr>
                <a:srgbClr val="1D9E75"/>
              </a:buClr>
              <a:buSzPts val="1200"/>
              <a:buFont typeface="Calibri"/>
            </a:pPr>
            <a:r>
              <a:rPr b="1" lang="en-US" sz="1300">
                <a:solidFill>
                  <a:srgbClr val="2C2C2A"/>
                </a:solidFill>
                <a:latin typeface="Calibri"/>
              </a:rPr>
              <a:t xml:space="preserve">Text extraction &amp; cleaning:  PDFs parsed and split into passages; 844 non-content passages (referral forms, citations, headers) removed after indexing</a:t>
            </a:r>
            <a:r>
              <a:rPr b="0" lang="en-US" sz="1300">
                <a:solidFill>
                  <a:srgbClr val="444444"/>
                </a:solidFill>
                <a:latin typeface="Calibri"/>
              </a:rPr>
              <a:t/>
            </a:r>
          </a:p>
          <a:p>
            <a:pPr algn="l" marL="228600" indent="-22860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Char char="●"/>
              <a:buClr>
                <a:srgbClr val="1D9E75"/>
              </a:buClr>
              <a:buSzPts val="1200"/>
              <a:buFont typeface="Calibri"/>
            </a:pPr>
            <a:r>
              <a:rPr b="1" lang="en-US" sz="1300">
                <a:solidFill>
                  <a:srgbClr val="2C2C2A"/>
                </a:solidFill>
                <a:latin typeface="Calibri"/>
              </a:rPr>
              <a:t xml:space="preserve">Segmentation strategy: fixed-size sliding window with overlap to preserve sentence context across boundaries</a:t>
            </a:r>
            <a:r>
              <a:rPr b="0" lang="en-US" sz="1300">
                <a:solidFill>
                  <a:srgbClr val="444444"/>
                </a:solidFill>
                <a:latin typeface="Calibri"/>
              </a:rPr>
              <a:t/>
            </a:r>
          </a:p>
          <a:p>
            <a:pPr algn="l" marL="228600" indent="-22860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Char char="●"/>
              <a:buClr>
                <a:srgbClr val="1D9E75"/>
              </a:buClr>
              <a:buSzPts val="1200"/>
              <a:buFont typeface="Calibri"/>
            </a:pPr>
            <a:r>
              <a:rPr b="1" lang="en-US" sz="1300">
                <a:solidFill>
                  <a:srgbClr val="2C2C2A"/>
                </a:solidFill>
                <a:latin typeface="Calibri"/>
              </a:rPr>
              <a:t xml:space="preserve">EDA — passage length distribution: most passages fall in the 80–140 token range; long-tail outliers trimmed</a:t>
            </a:r>
            <a:r>
              <a:rPr b="0" lang="en-US" sz="1300">
                <a:solidFill>
                  <a:srgbClr val="444444"/>
                </a:solidFill>
                <a:latin typeface="Calibri"/>
              </a:rPr>
              <a:t/>
            </a:r>
          </a:p>
          <a:p>
            <a:pPr algn="l" marL="228600" indent="-22860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Char char="●"/>
              <a:buClr>
                <a:srgbClr val="1D9E75"/>
              </a:buClr>
              <a:buSzPts val="1200"/>
              <a:buFont typeface="Calibri"/>
            </a:pPr>
            <a:r>
              <a:rPr b="1" lang="en-US" sz="1300">
                <a:solidFill>
                  <a:srgbClr val="2C2C2A"/>
                </a:solidFill>
                <a:latin typeface="Calibri"/>
              </a:rPr>
              <a:t xml:space="preserve">EDA — topic coverage: </a:t>
            </a:r>
            <a:r>
              <a:rPr b="0" lang="en-US" sz="1300">
                <a:solidFill>
                  <a:srgbClr val="444444"/>
                </a:solidFill>
                <a:latin typeface="Calibri"/>
              </a:rPr>
              <a:t>PPH and eclampsia are the most represented conditions; cord prolapse and sepsis have thinner coverage</a:t>
            </a:r>
          </a:p>
          <a:p>
            <a:pPr algn="l" marL="228600" indent="-22860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har char="●"/>
              <a:buClr>
                <a:srgbClr val="1D9E75"/>
              </a:buClr>
              <a:buSzPts val="1200"/>
              <a:buFont typeface="Calibri"/>
            </a:pPr>
            <a:r>
              <a:rPr b="1" lang="en-US" sz="1300">
                <a:solidFill>
                  <a:srgbClr val="2C2C2A"/>
                </a:solidFill>
                <a:latin typeface="Calibri"/>
              </a:rPr>
              <a:t xml:space="preserve">Retrieval validation: </a:t>
            </a:r>
            <a:r>
              <a:rPr b="0" lang="en-US" sz="1300">
                <a:solidFill>
                  <a:srgbClr val="444444"/>
                </a:solidFill>
                <a:latin typeface="Calibri"/>
              </a:rPr>
              <a:t>K=4 chosen after manual inspection showed diminishing relevance beyond 4th retrieved passage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Engineering</a:t>
            </a:r>
            <a:r>
              <a:rPr b="1" lang="en-US" sz="340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:</a:t>
            </a: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Knowledge Base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Every WEMA response is grounded in retrieved passages, not memory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640080" y="1874520"/>
            <a:ext cx="2743200" cy="4251960"/>
          </a:xfrm>
          <a:prstGeom prst="roundRect">
            <a:avLst>
              <a:gd fmla="val 2667" name="adj"/>
            </a:avLst>
          </a:prstGeom>
          <a:solidFill>
            <a:srgbClr val="1D9E7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40080" y="214884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Bookman Old Style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19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22960" y="3063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5E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4F5EE"/>
                </a:solidFill>
                <a:latin typeface="Calibri"/>
                <a:ea typeface="Calibri"/>
                <a:cs typeface="Calibri"/>
                <a:sym typeface="Calibri"/>
              </a:rPr>
              <a:t>curated source documents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7"/>
          <p:cNvCxnSpPr/>
          <p:nvPr/>
        </p:nvCxnSpPr>
        <p:spPr>
          <a:xfrm>
            <a:off x="1188720" y="3794760"/>
            <a:ext cx="18288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7"/>
          <p:cNvSpPr/>
          <p:nvPr/>
        </p:nvSpPr>
        <p:spPr>
          <a:xfrm>
            <a:off x="640080" y="397764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Bookman Old Style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7,906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22960" y="489204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5E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4F5EE"/>
                </a:solidFill>
                <a:latin typeface="Calibri"/>
                <a:ea typeface="Calibri"/>
                <a:cs typeface="Calibri"/>
                <a:sym typeface="Calibri"/>
              </a:rPr>
              <a:t>retrievable passages indexed in ChromaDB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77240" y="55778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FF3E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FF3EC"/>
                </a:solidFill>
                <a:latin typeface="Calibri"/>
                <a:ea typeface="Calibri"/>
                <a:cs typeface="Calibri"/>
                <a:sym typeface="Calibri"/>
              </a:rPr>
              <a:t>Source: WHO &amp; ACOG guidelines, national protocols &amp; obstetric/neonatal care manuals.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Picture 138" descr="kb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828800"/>
            <a:ext cx="79095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Data Engineering </a:t>
            </a:r>
            <a:r>
              <a:rPr b="1" lang="en-US" sz="340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:</a:t>
            </a: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Evaluation Scenarios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68 labelled test cases across 17 emergency types form the evaluation ground truth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0" y="1828800"/>
            <a:ext cx="4023360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0" y="4160520"/>
            <a:ext cx="4023360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Picture 14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828800"/>
            <a:ext cx="66751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Model Design </a:t>
            </a:r>
            <a:r>
              <a:rPr b="1" lang="en-US" sz="340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:</a:t>
            </a: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The Dual-Path Prompt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The key safety fix: never invent a home action where none exists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40080" y="1874520"/>
            <a:ext cx="5394960" cy="4251960"/>
          </a:xfrm>
          <a:prstGeom prst="roundRect">
            <a:avLst>
              <a:gd fmla="val 1720" name="adj"/>
            </a:avLst>
          </a:prstGeom>
          <a:solidFill>
            <a:srgbClr val="EAF6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1691640" y="219456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50"/>
              <a:buFont typeface="Bookman Old Style"/>
              <a:buNone/>
            </a:pPr>
            <a:r>
              <a:rPr b="1" i="0" lang="en-US" sz="18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Path A </a:t>
            </a:r>
            <a:r>
              <a:rPr b="1" lang="en-US" sz="185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:</a:t>
            </a:r>
            <a:r>
              <a:rPr b="1" i="0" lang="en-US" sz="18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Safe Home Action Exists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960120" y="2926080"/>
            <a:ext cx="4846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Postpartum Haemorrhage → massage the lower belly firmly, put baby to breast now, empty bladder, lie flat &amp; keep warm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Eclampsia / convulsions → lie on left side, protect from injury, do not restrain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Newborn not breathing → dry the baby, rub the back to stimulate, keep warm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Cord prolapse → hands-and-knees position, chest down, hips 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960120" y="544068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Then: alert is arranged, transport urged — home action is the first step, not the only step.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263640" y="1874520"/>
            <a:ext cx="5257800" cy="4251960"/>
          </a:xfrm>
          <a:prstGeom prst="roundRect">
            <a:avLst>
              <a:gd fmla="val 1720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315200" y="21945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50"/>
              <a:buFont typeface="Bookman Old Style"/>
              <a:buNone/>
            </a:pPr>
            <a:r>
              <a:rPr b="1" i="0" lang="en-US" sz="18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Path B </a:t>
            </a:r>
            <a:r>
              <a:rPr b="1" lang="en-US" sz="185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:</a:t>
            </a:r>
            <a:r>
              <a:rPr b="1" i="0" lang="en-US" sz="18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No Safe Home Action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583680" y="2926080"/>
            <a:ext cx="4754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Surgical emergencies (suspected ectopic pregnancy, placenta praevia) have no safe physical intervention at home.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WEMA does not invent one. It routes to immediate transport by the fastest means, while help is alerted.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Only "what to avoid" is added (e.g. do not press the abdomen, do not get up)</a:t>
            </a:r>
            <a:r>
              <a:rPr lang="en-US" sz="14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 xml:space="preserve"> to prevent harm while travelling.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Tone conveys urgency: “go now, not wait.”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583680" y="544068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Guardrails: always short, calm sentences; never mentions drug names, prescriptions, or medical procedures.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Evaluation Methodology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>Generator vs. judge call : two separate calls to the production model: one to answer, one to score</a:t>
            </a:r>
            <a:r>
              <a:rPr lang="en-US" sz="165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/>
            </a: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40080" y="1920240"/>
            <a:ext cx="5212080" cy="2926080"/>
          </a:xfrm>
          <a:prstGeom prst="roundRect">
            <a:avLst>
              <a:gd fmla="val 2500" name="adj"/>
            </a:avLst>
          </a:prstGeom>
          <a:solidFill>
            <a:srgbClr val="EAF6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1691640" y="22128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50"/>
              <a:buFont typeface="Bookman Old Style"/>
              <a:buNone/>
            </a:pPr>
            <a:r>
              <a:rPr b="1" i="0" lang="en-US" sz="17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Generator </a:t>
            </a:r>
            <a:r>
              <a:rPr b="1" lang="en-US" sz="175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-</a:t>
            </a:r>
            <a:r>
              <a:rPr b="1" i="0" lang="en-US" sz="17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Llama 3.3 70B (Groq)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960120" y="2926080"/>
            <a:ext cx="4663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The real production model that answers callers.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Receives the dual-path system prompt plus 4 retrieved passages of context per query.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Temperature = 0.2 for consistent, low-variance responses.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263640" y="1920240"/>
            <a:ext cx="5257800" cy="2926080"/>
          </a:xfrm>
          <a:prstGeom prst="roundRect">
            <a:avLst>
              <a:gd fmla="val 2500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6537960" y="2194560"/>
            <a:ext cx="594360" cy="594360"/>
          </a:xfrm>
          <a:prstGeom prst="ellipse">
            <a:avLst/>
          </a:prstGeom>
          <a:solidFill>
            <a:srgbClr val="3A7C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7315200" y="221284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50"/>
              <a:buFont typeface="Bookman Old Style"/>
              <a:buNone/>
            </a:pPr>
            <a:r>
              <a:rPr b="1" i="0" lang="en-US" sz="17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Judge</a:t>
            </a:r>
            <a:r>
              <a:rPr b="1" lang="en-US" sz="175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-</a:t>
            </a:r>
            <a:r>
              <a:rPr b="1" i="0" lang="en-US" sz="17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Llama 3.3 70B (Groq, T=0)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Separate call compares WEMA's response against the expected home action for each scenario.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Scores clinical equivalence: EQUIVALENT, PARTIAL, or DIVERGENT</a:t>
            </a:r>
            <a:r>
              <a:rPr lang="en-US" sz="14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 xml:space="preserve">, </a:t>
            </a: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 xml:space="preserve"> judging intent, not wording.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Runs at temperature = 0 for deterministic, reproducible scoring, separate from the production response.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fmla="val 6667" name="adj"/>
            </a:avLst>
          </a:prstGeom>
          <a:solidFill>
            <a:srgbClr val="162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 xml:space="preserve">Why a separate judge call?  Running the judge as a dedicated temperature = 0 call — separate from the temperature = 0.2 production response — keeps the evaluation score deterministic and reproducible, and avoids the production response's own randomness leaking into the score.</a:t>
            </a:r>
            <a:r>
              <a:rPr b="0" i="0" lang="en-US" sz="1550" u="none" cap="none" strike="noStrike">
                <a:solidFill>
                  <a:srgbClr val="E8F0ED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550">
                <a:solidFill>
                  <a:srgbClr val="E8F0ED"/>
                </a:solidFill>
                <a:latin typeface="Calibri"/>
                <a:ea typeface="Calibri"/>
                <a:cs typeface="Calibri"/>
                <a:sym typeface="Calibri"/>
              </a:rPr>
              <a:t xml:space="preserve"/>
            </a:r>
            <a:r>
              <a:rPr b="0" i="0" lang="en-US" sz="1550" u="none" cap="none" strike="noStrike">
                <a:solidFill>
                  <a:srgbClr val="E8F0ED"/>
                </a:solidFill>
                <a:latin typeface="Calibri"/>
                <a:ea typeface="Calibri"/>
                <a:cs typeface="Calibri"/>
                <a:sym typeface="Calibri"/>
              </a:rPr>
              <a:t xml:space="preserve"/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Initial Performance Metrics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>Full 68-scenario evaluation run </a:t>
            </a:r>
            <a:r>
              <a:rPr lang="en-US" sz="165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 xml:space="preserve">- </a:t>
            </a: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baseline (K=4, temperature=0.2)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28800"/>
            <a:ext cx="51206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6035040" y="1874520"/>
            <a:ext cx="5486400" cy="1325880"/>
          </a:xfrm>
          <a:prstGeom prst="roundRect">
            <a:avLst>
              <a:gd fmla="val 5517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6263640" y="1874520"/>
            <a:ext cx="1737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1D9E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55 / 68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8138160" y="187452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Responses judged EQUIVALENT to the expected clinical action (80.9%)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035040" y="3383280"/>
            <a:ext cx="5486400" cy="1325880"/>
          </a:xfrm>
          <a:prstGeom prst="roundRect">
            <a:avLst>
              <a:gd fmla="val 5517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6263640" y="3383280"/>
            <a:ext cx="1737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CA5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3A7CA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98.5%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8138160" y="338328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Physical-only safety</a:t>
            </a:r>
            <a:r>
              <a:rPr lang="en-US" sz="14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 — 67 of 68 responses contained</a:t>
            </a: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 xml:space="preserve"> no drug names or prescr</a:t>
            </a:r>
            <a:r>
              <a:rPr lang="en-US" sz="14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iptions</a:t>
            </a: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 xml:space="preserve"> (one flagged: S053, Malaria)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6035040" y="4892040"/>
            <a:ext cx="5486400" cy="1325880"/>
          </a:xfrm>
          <a:prstGeom prst="roundRect">
            <a:avLst>
              <a:gd fmla="val 5517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6263640" y="4892040"/>
            <a:ext cx="1737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D85A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9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8138160" y="489204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Divergent cases flagged for clinical review (see next slide)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 by Emergency Type &amp; Safety Review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Reading results per emergency type, not as one headline number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40080" y="182880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50"/>
              <a:buFont typeface="Bookman Old Style"/>
              <a:buNone/>
            </a:pPr>
            <a:r>
              <a:rPr b="1" i="0" lang="en-US" sz="16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Verdict by Emergency Type (selected)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22"/>
          <p:cNvGraphicFramePr/>
          <p:nvPr/>
        </p:nvGraphicFramePr>
        <p:xfrm>
          <a:off x="64008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{F8F561AF-4F36-46DA-B61B-508E98F30B0B}</a:tableStyleId>
              </a:tblPr>
              <a:tblGrid>
                <a:gridCol w="2926075"/>
                <a:gridCol w="978400"/>
                <a:gridCol w="978400"/>
                <a:gridCol w="9692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Emergency Type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Equivalent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Divergent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1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Ectopic Pregnancy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Obstructed Labour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Maternal Sepsis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Severe Anaemia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Eclampsia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Pre-eclampsia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Postpartum Haemorrhage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(10 types)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6D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6D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5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85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6F4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22"/>
          <p:cNvSpPr/>
          <p:nvPr/>
        </p:nvSpPr>
        <p:spPr>
          <a:xfrm>
            <a:off x="6766560" y="1828800"/>
            <a:ext cx="4754880" cy="4480560"/>
          </a:xfrm>
          <a:prstGeom prst="roundRect">
            <a:avLst>
              <a:gd fmla="val 1633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7040880" y="2103120"/>
            <a:ext cx="548640" cy="54864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7726680" y="212140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9 Divergent Cases</a:t>
            </a:r>
            <a:r>
              <a:rPr b="1" lang="en-US" sz="1600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: </a:t>
            </a:r>
            <a:r>
              <a:rPr b="1" i="0" lang="en-US" sz="16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Flagged for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7040880" y="2788920"/>
            <a:ext cx="42519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Judge errors (3) — S002/S006/S007 (PPH): correct massage + breastfeeding guidance wrongly flagged; confirmed correct on manual review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C2C2A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True gaps (3) — S009 (PPH): firm pressure missing · S060 (Praevia): said "get up", should lie flat · S062 (Miscarriage): over-escalated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C2C2A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Borderline (3) — S004, S049, S053: clinically defensible but misaligned with the expected action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C2C2A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Adjusted true divergence: ~4–6% vs raw 13.2% — a judge-prompt limitation, not system failure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22"/>
          <p:cNvCxnSpPr/>
          <p:nvPr/>
        </p:nvCxnSpPr>
        <p:spPr>
          <a:xfrm>
            <a:off x="7040880" y="5486400"/>
            <a:ext cx="4206240" cy="0"/>
          </a:xfrm>
          <a:prstGeom prst="straightConnector1">
            <a:avLst/>
          </a:prstGeom>
          <a:noFill/>
          <a:ln cap="flat" cmpd="sng" w="9525">
            <a:solidFill>
              <a:srgbClr val="88878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2"/>
          <p:cNvSpPr/>
          <p:nvPr/>
        </p:nvSpPr>
        <p:spPr>
          <a:xfrm>
            <a:off x="7040880" y="557784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Known limitation: the automated safety check only screens for drug-name mentions, not unsafe physical advice — manual review of high-risk divergent cases is a current future-work item.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 Plan &amp; MVP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6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640080" y="1874520"/>
            <a:ext cx="5394960" cy="4251960"/>
          </a:xfrm>
          <a:prstGeom prst="roundRect">
            <a:avLst>
              <a:gd fmla="val 1720" name="adj"/>
            </a:avLst>
          </a:prstGeom>
          <a:solidFill>
            <a:srgbClr val="EAF6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1691640" y="2176272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50"/>
              <a:buFont typeface="Bookman Old Style"/>
              <a:buNone/>
            </a:pPr>
            <a:r>
              <a:rPr b="1" i="0" lang="en-US" sz="17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Current MVP (Notebook / API)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960120" y="292608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Retrieval stack: sentence-transformers (MiniLM) + ChromaDB persisted vector store, mounted via Google Drive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Orchestration: LangChain prompt templates + chains (langchain-community, langchain-groq)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Generation: Groq-hosted Llama 3.3 70B (production answer model)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Evaluation: separate Llama 3.3 70B judge call (T=0), automated CSV scoring of all 68 scenarios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Secrets handled via getpass — never committed to the repo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263640" y="1874520"/>
            <a:ext cx="5257800" cy="4251960"/>
          </a:xfrm>
          <a:prstGeom prst="roundRect">
            <a:avLst>
              <a:gd fmla="val 1720" name="adj"/>
            </a:avLst>
          </a:prstGeom>
          <a:solidFill>
            <a:srgbClr val="F4F1F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3A7C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315200" y="2176272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50"/>
              <a:buFont typeface="Bookman Old Style"/>
              <a:buNone/>
            </a:pPr>
            <a:r>
              <a:rPr b="1" i="0" lang="en-US" sz="1750" u="none" cap="none" strike="noStrike">
                <a:solidFill>
                  <a:srgbClr val="2C2C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Path to a Live Hotline / App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716475" y="2816350"/>
            <a:ext cx="46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Wrap ask_wema() as an API endpoint (Swagger/Postman UI) for partner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6716475" y="3575300"/>
            <a:ext cx="46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Connect to a voice gateway (Twilio) so callers reach WEMA by phone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6716600" y="4334250"/>
            <a:ext cx="46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Add a manual-review queue for DIVERGENT / high-risk verdicts before wider rollout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628225" y="5093200"/>
            <a:ext cx="4692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Move ChromaDB store to a managed host; pin embedding model version with rag.py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21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Summary &amp; Next Steps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9BC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FC9BC"/>
                </a:solidFill>
                <a:latin typeface="Calibri"/>
                <a:ea typeface="Calibri"/>
                <a:cs typeface="Calibri"/>
                <a:sym typeface="Calibri"/>
              </a:rPr>
              <a:t xml:space="preserve">Initial software demonstration </a:t>
            </a:r>
            <a:r>
              <a:rPr lang="en-US" sz="1650">
                <a:solidFill>
                  <a:srgbClr val="9FC9B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650" u="none" cap="none" strike="noStrike">
                <a:solidFill>
                  <a:srgbClr val="9FC9BC"/>
                </a:solidFill>
                <a:latin typeface="Calibri"/>
                <a:ea typeface="Calibri"/>
                <a:cs typeface="Calibri"/>
                <a:sym typeface="Calibri"/>
              </a:rPr>
              <a:t xml:space="preserve"> ML Track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40080" y="1828800"/>
            <a:ext cx="3474720" cy="3154680"/>
          </a:xfrm>
          <a:prstGeom prst="roundRect">
            <a:avLst>
              <a:gd fmla="val 2319" name="adj"/>
            </a:avLst>
          </a:prstGeom>
          <a:solidFill>
            <a:srgbClr val="1E3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1554480" y="20574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Bookman Old Style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What's working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914400" y="2697480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End-to-end RAG pipeline retrieving from 7,906 grounded passages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Dual-path prompt safely separates home actions from transport-only cases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80.9% of responses judged clinically EQUIVALENT; 98.5% physical-only safety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343400" y="1828800"/>
            <a:ext cx="3474720" cy="3154680"/>
          </a:xfrm>
          <a:prstGeom prst="roundRect">
            <a:avLst>
              <a:gd fmla="val 2319" name="adj"/>
            </a:avLst>
          </a:prstGeom>
          <a:solidFill>
            <a:srgbClr val="1E3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4617720" y="210312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257800" y="20574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Bookman Old Style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needs work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617720" y="2697480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3 true divergent cases (S009, S060, S062) need prompt refinement, incl. firm-pressure guidance for PPH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 xml:space="preserve">Safety check currently screens drug names only </a:t>
            </a:r>
            <a:r>
              <a:rPr lang="en-US" sz="1250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 xml:space="preserve"> and </a:t>
            </a: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not unsafe physical advice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8046720" y="1828800"/>
            <a:ext cx="3474720" cy="3154680"/>
          </a:xfrm>
          <a:prstGeom prst="roundRect">
            <a:avLst>
              <a:gd fmla="val 2319" name="adj"/>
            </a:avLst>
          </a:prstGeom>
          <a:solidFill>
            <a:srgbClr val="1E3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8961120" y="20574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Bookman Old Style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Next steps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8321040" y="2697480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Manual clinical review of all DIVERGENT cases with the obstetrician advisor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Wrap pipeline as an API (Swagger UI) and connect to a voice/USSD gateway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7E6E0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D7E6E0"/>
                </a:solidFill>
                <a:latin typeface="Calibri"/>
                <a:ea typeface="Calibri"/>
                <a:cs typeface="Calibri"/>
                <a:sym typeface="Calibri"/>
              </a:rPr>
              <a:t>Expand the safety-phrase watchlist for automated physical-advice review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8046720" y="5074920"/>
            <a:ext cx="3474720" cy="1097280"/>
          </a:xfrm>
          <a:prstGeom prst="roundRect">
            <a:avLst>
              <a:gd fmla="val 6667" name="adj"/>
            </a:avLst>
          </a:prstGeom>
          <a:solidFill>
            <a:srgbClr val="1E4A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8275320" y="52120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DATA &amp; NOTEBOOKS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8275320" y="55321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WEMA_Data_Exploration.ipynb · WEMA_Full_Evaluation_Colab.ipynb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F8B82"/>
                </a:solidFill>
                <a:latin typeface="Calibri"/>
                <a:ea typeface="Calibri"/>
                <a:cs typeface="Calibri"/>
                <a:sym typeface="Calibri"/>
              </a:rPr>
              <a:t>WEMA — Women's Emergency Medical AI  |  Capstone Project, ML Track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>
            <p:ph type="ctrTitle"/>
          </p:nvPr>
        </p:nvSpPr>
        <p:spPr>
          <a:xfrm>
            <a:off x="680600" y="1676400"/>
            <a:ext cx="10830900" cy="21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THANK YOU!</a:t>
            </a:r>
            <a:endParaRPr sz="10000"/>
          </a:p>
        </p:txBody>
      </p:sp>
      <p:sp>
        <p:nvSpPr>
          <p:cNvPr id="263" name="Google Shape;263;p25"/>
          <p:cNvSpPr txBox="1"/>
          <p:nvPr>
            <p:ph idx="1" type="subTitle"/>
          </p:nvPr>
        </p:nvSpPr>
        <p:spPr>
          <a:xfrm>
            <a:off x="680600" y="4243072"/>
            <a:ext cx="10830900" cy="118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>
                <a:latin typeface="Bookman Old Style"/>
                <a:ea typeface="Bookman Old Style"/>
                <a:cs typeface="Bookman Old Style"/>
                <a:sym typeface="Bookman Old Style"/>
              </a:rPr>
              <a:t>ANY QUESTIONS?</a:t>
            </a:r>
            <a:endParaRPr sz="64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